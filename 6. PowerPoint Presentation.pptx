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u="sng" dirty="0">
                <a:solidFill>
                  <a:schemeClr val="tx1"/>
                </a:solidFill>
              </a:rPr>
              <a:t>Profitability Ratios Chart</a:t>
            </a:r>
            <a:endParaRPr lang="en-ZA" u="sng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Margin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0.00%</c:formatCode>
                <c:ptCount val="5"/>
                <c:pt idx="0">
                  <c:v>0.29380000000000001</c:v>
                </c:pt>
                <c:pt idx="1">
                  <c:v>0.36359999999999998</c:v>
                </c:pt>
                <c:pt idx="2">
                  <c:v>0.39069999999999999</c:v>
                </c:pt>
                <c:pt idx="3">
                  <c:v>0.38679999999999998</c:v>
                </c:pt>
                <c:pt idx="4">
                  <c:v>0.38390000000000002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63-4A28-8067-0BF39C415C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 on Assets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Sheet1!$C$2:$C$6</c:f>
              <c:numCache>
                <c:formatCode>0.00%</c:formatCode>
                <c:ptCount val="5"/>
                <c:pt idx="0">
                  <c:v>3.0599999999999999E-2</c:v>
                </c:pt>
                <c:pt idx="1">
                  <c:v>5.0999999999999997E-2</c:v>
                </c:pt>
                <c:pt idx="2">
                  <c:v>4.9700000000000001E-2</c:v>
                </c:pt>
                <c:pt idx="3">
                  <c:v>5.3100000000000001E-2</c:v>
                </c:pt>
                <c:pt idx="4">
                  <c:v>6.1699999999999998E-2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63-4A28-8067-0BF39C415C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Return on Investment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Sheet1!$D$2:$D$6</c:f>
              <c:numCache>
                <c:formatCode>0.00%</c:formatCode>
                <c:ptCount val="5"/>
                <c:pt idx="0" formatCode="0%">
                  <c:v>0.16</c:v>
                </c:pt>
                <c:pt idx="1">
                  <c:v>0.25969999999999999</c:v>
                </c:pt>
                <c:pt idx="2">
                  <c:v>0.24840000000000001</c:v>
                </c:pt>
                <c:pt idx="3">
                  <c:v>0.25950000000000001</c:v>
                </c:pt>
                <c:pt idx="4">
                  <c:v>0.29120000000000001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63-4A28-8067-0BF39C415CE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12015024"/>
        <c:axId val="1204751440"/>
      </c:lineChart>
      <c:catAx>
        <c:axId val="1512015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Years</a:t>
                </a:r>
                <a:endParaRPr lang="en-ZA" b="1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751440"/>
        <c:crosses val="autoZero"/>
        <c:auto val="1"/>
        <c:lblAlgn val="ctr"/>
        <c:lblOffset val="100"/>
        <c:noMultiLvlLbl val="0"/>
      </c:catAx>
      <c:valAx>
        <c:axId val="120475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Percentages</a:t>
                </a:r>
                <a:endParaRPr lang="en-ZA" b="1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2015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Gearing &amp; Overall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Gearing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0.00%</c:formatCode>
                <c:ptCount val="5"/>
                <c:pt idx="0">
                  <c:v>4.2320000000000002</c:v>
                </c:pt>
                <c:pt idx="1">
                  <c:v>3.9746999999999999</c:v>
                </c:pt>
                <c:pt idx="2">
                  <c:v>4.0274000000000001</c:v>
                </c:pt>
                <c:pt idx="3">
                  <c:v>3.7682000000000002</c:v>
                </c:pt>
                <c:pt idx="4">
                  <c:v>3.6831999999999998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30-4C8A-B287-13221DA0CD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516641744"/>
        <c:axId val="1204754800"/>
      </c:barChart>
      <c:catAx>
        <c:axId val="1516641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Years</a:t>
                </a:r>
                <a:endParaRPr lang="en-ZA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50109871365992364"/>
              <c:y val="0.871264262082172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754800"/>
        <c:crosses val="autoZero"/>
        <c:auto val="1"/>
        <c:lblAlgn val="ctr"/>
        <c:lblOffset val="100"/>
        <c:noMultiLvlLbl val="0"/>
      </c:catAx>
      <c:valAx>
        <c:axId val="1204754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>
                    <a:solidFill>
                      <a:schemeClr val="tx1"/>
                    </a:solidFill>
                  </a:rPr>
                  <a:t>Gearing</a:t>
                </a:r>
                <a:endParaRPr lang="en-ZA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6641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075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30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624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523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41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54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5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49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59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37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615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0177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1055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2628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939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118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166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416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336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371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267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102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462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451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608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72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973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9BBBFA6-0546-4BAA-AF3D-1CE9749A5117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E78AF84-4DFF-4656-B41F-B16CB28F7D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00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C78-E83F-AFDE-8DA6-E6A889045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Capitec Bank Holdings Limited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B5849-0582-3FC7-1B69-FEBC1A700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Financial Performance &amp; Ratio Analysis (2021–2025)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6AD00-6669-EB82-9C75-3BE3467D5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473" y="5349875"/>
            <a:ext cx="2589054" cy="10443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098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D3E2-A0FC-B38B-16DC-4EC6A531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GB" sz="3200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VISION &amp; MISSION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8F0F46-C454-962C-0AAE-B432F3C6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Abadi" panose="020B0604020104020204" pitchFamily="34" charset="0"/>
              </a:rPr>
              <a:t>Capitec’s vision is to be the most trusted brand in South Africa. We aim to make a meaningful difference in people’s lives, empowering them to grow. Our simple, accessible and affordable solutions, delivered with a personalized experience, ignite growth and unlock opportunities for individuals and businesses, helping them contribute to South Africa’s economy.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5E46E-148E-2060-84FA-2466BF87D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999880" y="1071282"/>
            <a:ext cx="2499109" cy="4737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1FEDA5-609C-954A-5185-1D273B679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347180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E071-9680-C8C6-66D0-53930939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0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About this report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EC7E70-D9D4-DE68-F594-F828F6E32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649846"/>
            <a:ext cx="853514" cy="975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B81DF-2248-007B-7C03-4E31FB94E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3" y="3854915"/>
            <a:ext cx="914479" cy="1036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A10D57-789A-0374-49D0-4C087F73A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933" y="2761883"/>
            <a:ext cx="853514" cy="10135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8F9877-4410-0D1F-E0CE-9A61317375A8}"/>
              </a:ext>
            </a:extLst>
          </p:cNvPr>
          <p:cNvSpPr txBox="1"/>
          <p:nvPr/>
        </p:nvSpPr>
        <p:spPr>
          <a:xfrm>
            <a:off x="1522150" y="1979528"/>
            <a:ext cx="511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Financial Performance Context (2021-2025)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B80B8-4E0C-781E-7107-9D036865BC55}"/>
              </a:ext>
            </a:extLst>
          </p:cNvPr>
          <p:cNvSpPr txBox="1"/>
          <p:nvPr/>
        </p:nvSpPr>
        <p:spPr>
          <a:xfrm>
            <a:off x="1602659" y="4188454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Financial Ratios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165DA-2F7D-1778-41D1-4AF7F7CC60D2}"/>
              </a:ext>
            </a:extLst>
          </p:cNvPr>
          <p:cNvSpPr txBox="1"/>
          <p:nvPr/>
        </p:nvSpPr>
        <p:spPr>
          <a:xfrm>
            <a:off x="6718528" y="3083991"/>
            <a:ext cx="441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Integrated analysis and Interpretation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39350B-AD75-8D66-D1FD-D5CA171B8B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68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87C9-1BFC-61C2-AEFA-A52DE3BA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</a:t>
            </a:r>
            <a:r>
              <a:rPr lang="en-GB" u="sng" dirty="0"/>
              <a:t>Financial Performance Context (2021-2025)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9EE6-E6D7-94FC-83CC-B32D89E47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marL="0" indent="0">
              <a:buNone/>
            </a:pPr>
            <a:r>
              <a:rPr lang="en-ZA" sz="2400" dirty="0">
                <a:latin typeface="Abadi" panose="020B0604020104020204" pitchFamily="34" charset="0"/>
                <a:cs typeface="Arial" panose="020B0604020202020204" pitchFamily="34" charset="0"/>
              </a:rPr>
              <a:t>This presentation summarises Capitec Bank Holdings Limited's financial performance over the five-year period </a:t>
            </a:r>
            <a:r>
              <a:rPr lang="en-ZA" sz="2400" b="1" dirty="0">
                <a:latin typeface="Abadi" panose="020B0604020104020204" pitchFamily="34" charset="0"/>
                <a:cs typeface="Arial" panose="020B0604020202020204" pitchFamily="34" charset="0"/>
              </a:rPr>
              <a:t>2021–2025</a:t>
            </a:r>
            <a:r>
              <a:rPr lang="en-ZA" sz="2400" dirty="0">
                <a:latin typeface="Abadi" panose="020B0604020104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sz="2400" dirty="0"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ZA" sz="2400" dirty="0">
                <a:latin typeface="Abadi" panose="020B0604020104020204" pitchFamily="34" charset="0"/>
              </a:rPr>
              <a:t>The analysis focuses on:</a:t>
            </a:r>
          </a:p>
          <a:p>
            <a:pPr lvl="0"/>
            <a:r>
              <a:rPr lang="en-ZA" sz="2400" b="1" dirty="0">
                <a:latin typeface="Abadi" panose="020B0604020104020204" pitchFamily="34" charset="0"/>
              </a:rPr>
              <a:t>Profitability</a:t>
            </a:r>
            <a:r>
              <a:rPr lang="en-ZA" sz="2400" dirty="0">
                <a:latin typeface="Abadi" panose="020B0604020104020204" pitchFamily="34" charset="0"/>
              </a:rPr>
              <a:t> </a:t>
            </a:r>
          </a:p>
          <a:p>
            <a:pPr lvl="0"/>
            <a:r>
              <a:rPr lang="en-ZA" sz="2400" b="1" dirty="0">
                <a:latin typeface="Abadi" panose="020B0604020104020204" pitchFamily="34" charset="0"/>
              </a:rPr>
              <a:t>Liquidity</a:t>
            </a:r>
            <a:r>
              <a:rPr lang="en-ZA" sz="2400" dirty="0">
                <a:latin typeface="Abadi" panose="020B0604020104020204" pitchFamily="34" charset="0"/>
              </a:rPr>
              <a:t> </a:t>
            </a:r>
          </a:p>
          <a:p>
            <a:pPr lvl="0"/>
            <a:r>
              <a:rPr lang="en-ZA" sz="2400" b="1" dirty="0">
                <a:latin typeface="Abadi" panose="020B0604020104020204" pitchFamily="34" charset="0"/>
              </a:rPr>
              <a:t>Debt-equity position</a:t>
            </a:r>
          </a:p>
          <a:p>
            <a:pPr marL="0" lvl="0" indent="0">
              <a:buNone/>
            </a:pPr>
            <a:endParaRPr lang="en-ZA" sz="2400" b="1" dirty="0">
              <a:latin typeface="Abadi" panose="020B0604020104020204" pitchFamily="34" charset="0"/>
            </a:endParaRPr>
          </a:p>
          <a:p>
            <a:pPr lvl="0"/>
            <a:endParaRPr lang="en-ZA" b="1" dirty="0">
              <a:latin typeface="Abadi" panose="020B0604020104020204" pitchFamily="34" charset="0"/>
            </a:endParaRPr>
          </a:p>
          <a:p>
            <a:pPr lvl="0"/>
            <a:endParaRPr lang="en-ZA" sz="1200" dirty="0"/>
          </a:p>
          <a:p>
            <a:endParaRPr lang="en-GB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F5387A58-AAF0-BD3B-ACBC-D8E8FD517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01" y="484275"/>
            <a:ext cx="682418" cy="779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701EE0-A322-7A43-97C1-6EDBC874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74108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753191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64D0-532F-8070-190A-1DB20815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</a:t>
            </a:r>
            <a:r>
              <a:rPr lang="en-GB" u="sng" dirty="0"/>
              <a:t>Financial Ratios</a:t>
            </a:r>
            <a:br>
              <a:rPr lang="en-GB" dirty="0"/>
            </a:br>
            <a:r>
              <a:rPr lang="en-GB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F75A-27E9-F1C6-6CCE-DBC0587D7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02077"/>
            <a:ext cx="10963656" cy="50215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ZA" sz="2400" dirty="0">
                <a:latin typeface="Abadi" panose="020B0604020104020204" pitchFamily="34" charset="0"/>
              </a:rPr>
              <a:t>The following financial ratios and liquidity measures were analysed:</a:t>
            </a:r>
          </a:p>
          <a:p>
            <a:pPr marL="0" indent="0">
              <a:buNone/>
            </a:pPr>
            <a:r>
              <a:rPr lang="en-ZA" sz="2400" b="1" dirty="0">
                <a:latin typeface="Abadi" panose="020B0604020104020204" pitchFamily="34" charset="0"/>
              </a:rPr>
              <a:t>Profitability:</a:t>
            </a:r>
            <a:endParaRPr lang="en-ZA" sz="2400" dirty="0">
              <a:latin typeface="Abadi" panose="020B0604020104020204" pitchFamily="34" charset="0"/>
            </a:endParaRPr>
          </a:p>
          <a:p>
            <a:pPr lvl="0"/>
            <a:r>
              <a:rPr lang="en-ZA" sz="2400" dirty="0">
                <a:latin typeface="Abadi" panose="020B0604020104020204" pitchFamily="34" charset="0"/>
              </a:rPr>
              <a:t>Net Profit Margin </a:t>
            </a:r>
          </a:p>
          <a:p>
            <a:pPr lvl="0"/>
            <a:r>
              <a:rPr lang="en-ZA" sz="2400" dirty="0">
                <a:latin typeface="Abadi" panose="020B0604020104020204" pitchFamily="34" charset="0"/>
              </a:rPr>
              <a:t>Return on Assets (ROA) </a:t>
            </a:r>
          </a:p>
          <a:p>
            <a:pPr lvl="0"/>
            <a:r>
              <a:rPr lang="en-ZA" sz="2400" dirty="0">
                <a:latin typeface="Abadi" panose="020B0604020104020204" pitchFamily="34" charset="0"/>
              </a:rPr>
              <a:t>Return on Investment (ROI) </a:t>
            </a:r>
          </a:p>
          <a:p>
            <a:pPr marL="0" indent="0">
              <a:buNone/>
            </a:pPr>
            <a:r>
              <a:rPr lang="en-ZA" sz="2400" b="1" dirty="0">
                <a:latin typeface="Abadi" panose="020B0604020104020204" pitchFamily="34" charset="0"/>
              </a:rPr>
              <a:t>Liquidity:</a:t>
            </a:r>
            <a:endParaRPr lang="en-ZA" sz="2400" dirty="0">
              <a:latin typeface="Abadi" panose="020B0604020104020204" pitchFamily="34" charset="0"/>
            </a:endParaRPr>
          </a:p>
          <a:p>
            <a:pPr lvl="0"/>
            <a:r>
              <a:rPr lang="en-ZA" sz="2400" dirty="0">
                <a:latin typeface="Abadi" panose="020B0604020104020204" pitchFamily="34" charset="0"/>
              </a:rPr>
              <a:t>Liquidity Coverage Ratio (LCR) </a:t>
            </a:r>
          </a:p>
          <a:p>
            <a:pPr lvl="0"/>
            <a:r>
              <a:rPr lang="en-ZA" sz="2400" dirty="0">
                <a:latin typeface="Abadi" panose="020B0604020104020204" pitchFamily="34" charset="0"/>
              </a:rPr>
              <a:t>Net Stable Funding Ratio (NSFR) </a:t>
            </a:r>
          </a:p>
          <a:p>
            <a:pPr marL="0" indent="0">
              <a:buNone/>
            </a:pPr>
            <a:r>
              <a:rPr lang="en-ZA" sz="2400" b="1" dirty="0">
                <a:latin typeface="Abadi" panose="020B0604020104020204" pitchFamily="34" charset="0"/>
              </a:rPr>
              <a:t>Debt-equity:</a:t>
            </a:r>
            <a:endParaRPr lang="en-ZA" sz="2400" dirty="0">
              <a:latin typeface="Abadi" panose="020B0604020104020204" pitchFamily="34" charset="0"/>
            </a:endParaRPr>
          </a:p>
          <a:p>
            <a:pPr lvl="0"/>
            <a:r>
              <a:rPr lang="en-ZA" sz="2400" dirty="0">
                <a:latin typeface="Abadi" panose="020B0604020104020204" pitchFamily="34" charset="0"/>
              </a:rPr>
              <a:t>Gearing Ratio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C7102-50B1-8749-2B43-0E1EAE127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7" y="434595"/>
            <a:ext cx="606553" cy="687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B4D1C-DAA8-ECAC-2345-A3E07E3B1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278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201F-9475-936E-586F-2E6829A13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      </a:t>
            </a:r>
            <a:r>
              <a:rPr lang="en-GB" sz="3100" u="sng" dirty="0"/>
              <a:t>Profitability Ratios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056D5D1-6E74-B604-3EF6-3812DAE18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646435"/>
              </p:ext>
            </p:extLst>
          </p:nvPr>
        </p:nvGraphicFramePr>
        <p:xfrm>
          <a:off x="612775" y="1709737"/>
          <a:ext cx="11081920" cy="43271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70480">
                  <a:extLst>
                    <a:ext uri="{9D8B030D-6E8A-4147-A177-3AD203B41FA5}">
                      <a16:colId xmlns:a16="http://schemas.microsoft.com/office/drawing/2014/main" val="770300518"/>
                    </a:ext>
                  </a:extLst>
                </a:gridCol>
                <a:gridCol w="2770480">
                  <a:extLst>
                    <a:ext uri="{9D8B030D-6E8A-4147-A177-3AD203B41FA5}">
                      <a16:colId xmlns:a16="http://schemas.microsoft.com/office/drawing/2014/main" val="4202779948"/>
                    </a:ext>
                  </a:extLst>
                </a:gridCol>
                <a:gridCol w="2770480">
                  <a:extLst>
                    <a:ext uri="{9D8B030D-6E8A-4147-A177-3AD203B41FA5}">
                      <a16:colId xmlns:a16="http://schemas.microsoft.com/office/drawing/2014/main" val="955267949"/>
                    </a:ext>
                  </a:extLst>
                </a:gridCol>
                <a:gridCol w="2770480">
                  <a:extLst>
                    <a:ext uri="{9D8B030D-6E8A-4147-A177-3AD203B41FA5}">
                      <a16:colId xmlns:a16="http://schemas.microsoft.com/office/drawing/2014/main" val="3921087419"/>
                    </a:ext>
                  </a:extLst>
                </a:gridCol>
              </a:tblGrid>
              <a:tr h="700838">
                <a:tc>
                  <a:txBody>
                    <a:bodyPr/>
                    <a:lstStyle/>
                    <a:p>
                      <a:r>
                        <a:rPr lang="en-US" sz="2400" dirty="0"/>
                        <a:t>Year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Net Profit Margin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 on Assets</a:t>
                      </a:r>
                      <a:endParaRPr lang="en-Z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Return on Investment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314712"/>
                  </a:ext>
                </a:extLst>
              </a:tr>
              <a:tr h="7008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2021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29.38%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3.06%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16%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263188"/>
                  </a:ext>
                </a:extLst>
              </a:tr>
              <a:tr h="7008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2022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36.36%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5.10%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25.97%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759108"/>
                  </a:ext>
                </a:extLst>
              </a:tr>
              <a:tr h="7008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2023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39.07%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4.97%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24.84%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558250"/>
                  </a:ext>
                </a:extLst>
              </a:tr>
              <a:tr h="7008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2024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36.68%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5.31%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25.95%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55295"/>
                  </a:ext>
                </a:extLst>
              </a:tr>
              <a:tr h="7008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2025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38.39%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6.17%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badi" panose="020B0604020104020204" pitchFamily="34" charset="0"/>
                        </a:rPr>
                        <a:t>29.12%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87397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2363805-F533-AFCC-E3B2-B5ED3894C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43" y="473474"/>
            <a:ext cx="567470" cy="673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1A1DB-2C6A-AF55-4B57-50542278B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74108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23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B36-599C-A871-0B7F-2838592E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832" y="514649"/>
            <a:ext cx="10116471" cy="972373"/>
          </a:xfrm>
        </p:spPr>
        <p:txBody>
          <a:bodyPr/>
          <a:lstStyle/>
          <a:p>
            <a:br>
              <a:rPr lang="en-US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9C6C-B04E-89C6-0684-C2EA958B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latin typeface="Abadi" panose="020B0604020104020204" pitchFamily="34" charset="0"/>
              </a:rPr>
              <a:t>Net profit margin increased significantly from </a:t>
            </a:r>
            <a:r>
              <a:rPr lang="en-ZA" sz="2400" b="1" dirty="0">
                <a:latin typeface="Abadi" panose="020B0604020104020204" pitchFamily="34" charset="0"/>
              </a:rPr>
              <a:t>29.38% in 2021 to 38.39% in 2025</a:t>
            </a:r>
            <a:r>
              <a:rPr lang="en-ZA" sz="2400" dirty="0">
                <a:latin typeface="Abadi" panose="020B0604020104020204" pitchFamily="34" charset="0"/>
              </a:rPr>
              <a:t>.</a:t>
            </a:r>
          </a:p>
          <a:p>
            <a:r>
              <a:rPr lang="en-ZA" sz="2400" dirty="0">
                <a:latin typeface="Abadi" panose="020B0604020104020204" pitchFamily="34" charset="0"/>
              </a:rPr>
              <a:t>The ratio reached its highest point of </a:t>
            </a:r>
            <a:r>
              <a:rPr lang="en-ZA" sz="2400" b="1" dirty="0">
                <a:latin typeface="Abadi" panose="020B0604020104020204" pitchFamily="34" charset="0"/>
              </a:rPr>
              <a:t>39.07% in 2023</a:t>
            </a:r>
            <a:r>
              <a:rPr lang="en-ZA" sz="2400" dirty="0">
                <a:latin typeface="Abadi" panose="020B0604020104020204" pitchFamily="34" charset="0"/>
              </a:rPr>
              <a:t>, before declining slightly in 2024 and 2025.</a:t>
            </a:r>
          </a:p>
          <a:p>
            <a:r>
              <a:rPr lang="en-ZA" sz="2400" b="1" dirty="0">
                <a:latin typeface="Abadi" panose="020B0604020104020204" pitchFamily="34" charset="0"/>
              </a:rPr>
              <a:t>Overall: </a:t>
            </a:r>
            <a:r>
              <a:rPr lang="en-ZA" sz="2400" dirty="0">
                <a:latin typeface="Abadi" panose="020B0604020104020204" pitchFamily="34" charset="0"/>
              </a:rPr>
              <a:t>All three profitability measures were higher in 2025 than in 2021.</a:t>
            </a:r>
          </a:p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4D3063-4B07-BCFA-CEC0-7D7352209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634386"/>
            <a:ext cx="670721" cy="771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04FEE-C08E-A875-4BB2-81BFBE410838}"/>
              </a:ext>
            </a:extLst>
          </p:cNvPr>
          <p:cNvSpPr txBox="1"/>
          <p:nvPr/>
        </p:nvSpPr>
        <p:spPr>
          <a:xfrm>
            <a:off x="1283368" y="761785"/>
            <a:ext cx="6031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+mj-lt"/>
              </a:rPr>
              <a:t>Trend</a:t>
            </a:r>
            <a:endParaRPr lang="en-ZA" sz="3200" b="1" u="sng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4F7A5A-AB28-0CAF-9423-DFD027790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100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C327021-C3AD-7836-551F-C52F59F5F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500536"/>
              </p:ext>
            </p:extLst>
          </p:nvPr>
        </p:nvGraphicFramePr>
        <p:xfrm>
          <a:off x="614362" y="913649"/>
          <a:ext cx="10963275" cy="538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33149DE-1A9F-F02D-2D6F-0088ADE73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BA9B7D-C633-CD6D-1D14-47C5286328B1}"/>
              </a:ext>
            </a:extLst>
          </p:cNvPr>
          <p:cNvSpPr txBox="1"/>
          <p:nvPr/>
        </p:nvSpPr>
        <p:spPr>
          <a:xfrm>
            <a:off x="3394176" y="6303211"/>
            <a:ext cx="6400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Chart 1: 5-year profitability for Capitec Bank Holdings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3015053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9BD29-196B-8657-F18E-C9CE7A9B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85012"/>
            <a:ext cx="10963655" cy="930442"/>
          </a:xfrm>
        </p:spPr>
        <p:txBody>
          <a:bodyPr>
            <a:normAutofit/>
          </a:bodyPr>
          <a:lstStyle/>
          <a:p>
            <a:r>
              <a:rPr lang="en-ZA" sz="3600" u="sng" dirty="0">
                <a:latin typeface="Abadi" panose="020B0604020104020204" pitchFamily="34" charset="0"/>
              </a:rPr>
              <a:t>Liquidity Position: 2021–2025</a:t>
            </a:r>
            <a:endParaRPr lang="en-Z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94E3-1B81-EBB4-97D7-53D722977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09862"/>
            <a:ext cx="10963656" cy="4763126"/>
          </a:xfrm>
        </p:spPr>
        <p:txBody>
          <a:bodyPr/>
          <a:lstStyle/>
          <a:p>
            <a:r>
              <a:rPr lang="en-ZA" sz="2400" dirty="0">
                <a:latin typeface="Abadi" panose="020B0604020104020204" pitchFamily="34" charset="0"/>
              </a:rPr>
              <a:t>Banking-specific liquidity measures:</a:t>
            </a:r>
          </a:p>
          <a:p>
            <a:pPr marL="0" indent="0">
              <a:buNone/>
            </a:pP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5ACB9D-3CDB-D017-EEB1-86DC49501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227732"/>
              </p:ext>
            </p:extLst>
          </p:nvPr>
        </p:nvGraphicFramePr>
        <p:xfrm>
          <a:off x="893010" y="2724930"/>
          <a:ext cx="10063749" cy="220278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354583">
                  <a:extLst>
                    <a:ext uri="{9D8B030D-6E8A-4147-A177-3AD203B41FA5}">
                      <a16:colId xmlns:a16="http://schemas.microsoft.com/office/drawing/2014/main" val="906422601"/>
                    </a:ext>
                  </a:extLst>
                </a:gridCol>
                <a:gridCol w="3354583">
                  <a:extLst>
                    <a:ext uri="{9D8B030D-6E8A-4147-A177-3AD203B41FA5}">
                      <a16:colId xmlns:a16="http://schemas.microsoft.com/office/drawing/2014/main" val="3467491915"/>
                    </a:ext>
                  </a:extLst>
                </a:gridCol>
                <a:gridCol w="3354583">
                  <a:extLst>
                    <a:ext uri="{9D8B030D-6E8A-4147-A177-3AD203B41FA5}">
                      <a16:colId xmlns:a16="http://schemas.microsoft.com/office/drawing/2014/main" val="2252913289"/>
                    </a:ext>
                  </a:extLst>
                </a:gridCol>
              </a:tblGrid>
              <a:tr h="556869">
                <a:tc>
                  <a:txBody>
                    <a:bodyPr/>
                    <a:lstStyle/>
                    <a:p>
                      <a:r>
                        <a:rPr lang="en-US" sz="2400" dirty="0"/>
                        <a:t>M</a:t>
                      </a:r>
                      <a:r>
                        <a:rPr lang="en-ZA" sz="2400" dirty="0" err="1"/>
                        <a:t>easure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2021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2025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033670"/>
                  </a:ext>
                </a:extLst>
              </a:tr>
              <a:tr h="556869">
                <a:tc>
                  <a:txBody>
                    <a:bodyPr/>
                    <a:lstStyle/>
                    <a:p>
                      <a:r>
                        <a:rPr lang="en-ZA" sz="2400" dirty="0"/>
                        <a:t>Liquidity Coverage Ratio 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2.459%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3.085%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003547"/>
                  </a:ext>
                </a:extLst>
              </a:tr>
              <a:tr h="556869">
                <a:tc>
                  <a:txBody>
                    <a:bodyPr/>
                    <a:lstStyle/>
                    <a:p>
                      <a:r>
                        <a:rPr lang="en-ZA" sz="2400" dirty="0"/>
                        <a:t>Net Stable Funding Ratio 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221%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225%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4753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A7C108-3EEB-332A-856F-8F0145EB3297}"/>
              </a:ext>
            </a:extLst>
          </p:cNvPr>
          <p:cNvSpPr txBox="1"/>
          <p:nvPr/>
        </p:nvSpPr>
        <p:spPr>
          <a:xfrm>
            <a:off x="893010" y="5261811"/>
            <a:ext cx="106832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>
                <a:latin typeface="Abadi" panose="020B0604020104020204" pitchFamily="34" charset="0"/>
              </a:rPr>
              <a:t>Key trend:</a:t>
            </a:r>
            <a:r>
              <a:rPr lang="en-ZA" sz="2400" dirty="0">
                <a:latin typeface="Abadi" panose="020B0604020104020204" pitchFamily="34" charset="0"/>
              </a:rPr>
              <a:t> Both measures remained substantially above the </a:t>
            </a:r>
            <a:r>
              <a:rPr lang="en-ZA" sz="2400" b="1" dirty="0">
                <a:latin typeface="Abadi" panose="020B0604020104020204" pitchFamily="34" charset="0"/>
              </a:rPr>
              <a:t>100% regulatory requirement</a:t>
            </a:r>
            <a:r>
              <a:rPr lang="en-ZA" sz="2400" dirty="0">
                <a:latin typeface="Abadi" panose="020B0604020104020204" pitchFamily="34" charset="0"/>
              </a:rPr>
              <a:t>, indicating strong liquidity.</a:t>
            </a:r>
          </a:p>
          <a:p>
            <a:endParaRPr lang="en-Z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937E6F-EF90-AAFB-62E5-492097853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1076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F937-C9B4-863E-E45D-3B3186C15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74017"/>
            <a:ext cx="10963655" cy="972373"/>
          </a:xfrm>
        </p:spPr>
        <p:txBody>
          <a:bodyPr>
            <a:normAutofit/>
          </a:bodyPr>
          <a:lstStyle/>
          <a:p>
            <a:r>
              <a:rPr lang="en-ZA" sz="3600" u="sng" dirty="0">
                <a:latin typeface="Abadi" panose="020B0604020104020204" pitchFamily="34" charset="0"/>
              </a:rPr>
              <a:t>Gearing Ratio: 2021–2025</a:t>
            </a:r>
            <a:endParaRPr lang="en-ZA" sz="36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815A51-A9F2-A4FC-2C31-15ECD47952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027476"/>
              </p:ext>
            </p:extLst>
          </p:nvPr>
        </p:nvGraphicFramePr>
        <p:xfrm>
          <a:off x="612775" y="1709736"/>
          <a:ext cx="10963274" cy="420178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481637">
                  <a:extLst>
                    <a:ext uri="{9D8B030D-6E8A-4147-A177-3AD203B41FA5}">
                      <a16:colId xmlns:a16="http://schemas.microsoft.com/office/drawing/2014/main" val="389721781"/>
                    </a:ext>
                  </a:extLst>
                </a:gridCol>
                <a:gridCol w="5481637">
                  <a:extLst>
                    <a:ext uri="{9D8B030D-6E8A-4147-A177-3AD203B41FA5}">
                      <a16:colId xmlns:a16="http://schemas.microsoft.com/office/drawing/2014/main" val="3948188933"/>
                    </a:ext>
                  </a:extLst>
                </a:gridCol>
              </a:tblGrid>
              <a:tr h="700297">
                <a:tc>
                  <a:txBody>
                    <a:bodyPr/>
                    <a:lstStyle/>
                    <a:p>
                      <a:r>
                        <a:rPr lang="en-US" sz="2400" dirty="0"/>
                        <a:t>Year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Gearing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7292"/>
                  </a:ext>
                </a:extLst>
              </a:tr>
              <a:tr h="700297">
                <a:tc>
                  <a:txBody>
                    <a:bodyPr/>
                    <a:lstStyle/>
                    <a:p>
                      <a:r>
                        <a:rPr lang="en-US" sz="2400" dirty="0"/>
                        <a:t>2021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423.20%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56982"/>
                  </a:ext>
                </a:extLst>
              </a:tr>
              <a:tr h="700297">
                <a:tc>
                  <a:txBody>
                    <a:bodyPr/>
                    <a:lstStyle/>
                    <a:p>
                      <a:r>
                        <a:rPr lang="en-US" sz="2400" dirty="0"/>
                        <a:t>2022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397.47%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297377"/>
                  </a:ext>
                </a:extLst>
              </a:tr>
              <a:tr h="700297">
                <a:tc>
                  <a:txBody>
                    <a:bodyPr/>
                    <a:lstStyle/>
                    <a:p>
                      <a:r>
                        <a:rPr lang="en-US" sz="2400" dirty="0"/>
                        <a:t>2023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402.74%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573780"/>
                  </a:ext>
                </a:extLst>
              </a:tr>
              <a:tr h="700297">
                <a:tc>
                  <a:txBody>
                    <a:bodyPr/>
                    <a:lstStyle/>
                    <a:p>
                      <a:r>
                        <a:rPr lang="en-US" sz="2400" dirty="0"/>
                        <a:t>2024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376.82%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717960"/>
                  </a:ext>
                </a:extLst>
              </a:tr>
              <a:tr h="700297">
                <a:tc>
                  <a:txBody>
                    <a:bodyPr/>
                    <a:lstStyle/>
                    <a:p>
                      <a:r>
                        <a:rPr lang="en-US" sz="2400" dirty="0"/>
                        <a:t>2025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368.32%</a:t>
                      </a:r>
                      <a:endParaRPr lang="en-ZA" sz="2400" dirty="0">
                        <a:latin typeface="Abadi" panose="020B06040201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25688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1CDB420-0E2C-8818-9C2E-BE49800AF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4308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97E093E-56BF-2F68-58F0-72650CC78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32595"/>
              </p:ext>
            </p:extLst>
          </p:nvPr>
        </p:nvGraphicFramePr>
        <p:xfrm>
          <a:off x="614362" y="662614"/>
          <a:ext cx="10963275" cy="5500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EAFE305-4710-5688-B30B-002911F5A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5E2CFC-3879-F02E-C854-54A4E0280065}"/>
              </a:ext>
            </a:extLst>
          </p:cNvPr>
          <p:cNvSpPr txBox="1"/>
          <p:nvPr/>
        </p:nvSpPr>
        <p:spPr>
          <a:xfrm>
            <a:off x="3444238" y="6247778"/>
            <a:ext cx="6350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Chart 2: 5-Year </a:t>
            </a:r>
            <a:r>
              <a:rPr lang="en-ZA" sz="2000" b="1" dirty="0"/>
              <a:t>Company’s Financial Leverage</a:t>
            </a:r>
          </a:p>
        </p:txBody>
      </p:sp>
    </p:spTree>
    <p:extLst>
      <p:ext uri="{BB962C8B-B14F-4D97-AF65-F5344CB8AC3E}">
        <p14:creationId xmlns:p14="http://schemas.microsoft.com/office/powerpoint/2010/main" val="232279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1DEE-1DC5-3BEE-B930-FC772212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8969"/>
            <a:ext cx="10963655" cy="818148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Abadi" panose="020B0604020104020204" pitchFamily="34" charset="0"/>
              </a:rPr>
              <a:t>Trend</a:t>
            </a:r>
            <a:endParaRPr lang="en-Z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88FF-5E8A-C460-D075-F4F0865E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latin typeface="Abadi" panose="020B0604020104020204" pitchFamily="34" charset="0"/>
              </a:rPr>
              <a:t>Key trend: Gearing decreased overall from 423.20% to 368.32%.</a:t>
            </a:r>
          </a:p>
          <a:p>
            <a:r>
              <a:rPr lang="en-ZA" sz="2400" b="1" dirty="0">
                <a:latin typeface="Abadi" panose="020B0604020104020204" pitchFamily="34" charset="0"/>
              </a:rPr>
              <a:t>Overall Performance</a:t>
            </a:r>
          </a:p>
          <a:p>
            <a:r>
              <a:rPr lang="en-ZA" sz="2400" b="1" dirty="0">
                <a:latin typeface="Abadi" panose="020B0604020104020204" pitchFamily="34" charset="0"/>
              </a:rPr>
              <a:t>Profitability ↑</a:t>
            </a:r>
            <a:br>
              <a:rPr lang="en-ZA" sz="2400" b="1" dirty="0">
                <a:latin typeface="Abadi" panose="020B0604020104020204" pitchFamily="34" charset="0"/>
              </a:rPr>
            </a:br>
            <a:r>
              <a:rPr lang="en-ZA" sz="2400" b="1" dirty="0">
                <a:latin typeface="Abadi" panose="020B0604020104020204" pitchFamily="34" charset="0"/>
              </a:rPr>
              <a:t>Liquidity ✓</a:t>
            </a:r>
            <a:br>
              <a:rPr lang="en-ZA" sz="2400" b="1" dirty="0">
                <a:latin typeface="Abadi" panose="020B0604020104020204" pitchFamily="34" charset="0"/>
              </a:rPr>
            </a:br>
            <a:r>
              <a:rPr lang="en-ZA" sz="2400" b="1" dirty="0">
                <a:latin typeface="Abadi" panose="020B0604020104020204" pitchFamily="34" charset="0"/>
              </a:rPr>
              <a:t>Gearing ↓</a:t>
            </a:r>
          </a:p>
          <a:p>
            <a:r>
              <a:rPr lang="en-ZA" sz="2400" dirty="0">
                <a:latin typeface="Abadi" panose="020B0604020104020204" pitchFamily="34" charset="0"/>
              </a:rPr>
              <a:t>Overall, Capitec demonstrated stronger financial performance in 2025 than in 2021.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92DB9-1764-D596-FF8A-C217932F6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958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437E-96DE-A306-8B08-C00A47A8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724027"/>
          </a:xfrm>
        </p:spPr>
        <p:txBody>
          <a:bodyPr>
            <a:normAutofit/>
          </a:bodyPr>
          <a:lstStyle/>
          <a:p>
            <a:r>
              <a:rPr lang="en-ZA" sz="3600" u="sng" dirty="0">
                <a:latin typeface="Abadi" panose="020B0604020104020204" pitchFamily="34" charset="0"/>
              </a:rPr>
              <a:t>Conclusion</a:t>
            </a:r>
            <a:endParaRPr lang="en-Z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7682E-7141-A19D-F4D0-0EA175FD94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0254"/>
            <a:ext cx="4637269" cy="4499840"/>
          </a:xfrm>
        </p:spPr>
        <p:txBody>
          <a:bodyPr>
            <a:normAutofit fontScale="62500" lnSpcReduction="20000"/>
          </a:bodyPr>
          <a:lstStyle/>
          <a:p>
            <a:r>
              <a:rPr lang="en-ZA" sz="2900" dirty="0">
                <a:latin typeface="Abadi" panose="020B0604020104020204" pitchFamily="34" charset="0"/>
              </a:rPr>
              <a:t>Between 2021 and 2025:</a:t>
            </a:r>
          </a:p>
          <a:p>
            <a:pPr lvl="0"/>
            <a:r>
              <a:rPr lang="en-ZA" sz="2900" b="1" dirty="0">
                <a:latin typeface="Abadi" panose="020B0604020104020204" pitchFamily="34" charset="0"/>
              </a:rPr>
              <a:t>Profitability improved significantly.</a:t>
            </a:r>
            <a:r>
              <a:rPr lang="en-ZA" sz="2900" dirty="0">
                <a:latin typeface="Abadi" panose="020B0604020104020204" pitchFamily="34" charset="0"/>
              </a:rPr>
              <a:t> </a:t>
            </a:r>
          </a:p>
          <a:p>
            <a:pPr lvl="0"/>
            <a:r>
              <a:rPr lang="en-ZA" sz="2900" b="1" dirty="0">
                <a:latin typeface="Abadi" panose="020B0604020104020204" pitchFamily="34" charset="0"/>
              </a:rPr>
              <a:t>Liquidity remained strong.</a:t>
            </a:r>
            <a:r>
              <a:rPr lang="en-ZA" sz="2900" dirty="0">
                <a:latin typeface="Abadi" panose="020B0604020104020204" pitchFamily="34" charset="0"/>
              </a:rPr>
              <a:t> </a:t>
            </a:r>
          </a:p>
          <a:p>
            <a:pPr lvl="0"/>
            <a:r>
              <a:rPr lang="en-ZA" sz="2900" b="1" dirty="0">
                <a:latin typeface="Abadi" panose="020B0604020104020204" pitchFamily="34" charset="0"/>
              </a:rPr>
              <a:t>Gearing decreased overall.</a:t>
            </a:r>
            <a:r>
              <a:rPr lang="en-ZA" sz="2900" dirty="0">
                <a:latin typeface="Abadi" panose="020B0604020104020204" pitchFamily="34" charset="0"/>
              </a:rPr>
              <a:t> </a:t>
            </a:r>
          </a:p>
          <a:p>
            <a:pPr lvl="0"/>
            <a:r>
              <a:rPr lang="en-ZA" sz="2900" dirty="0">
                <a:latin typeface="Abadi" panose="020B0604020104020204" pitchFamily="34" charset="0"/>
              </a:rPr>
              <a:t>Some fluctuations occurred during the period, but the overall financial trend was positive.</a:t>
            </a:r>
          </a:p>
          <a:p>
            <a:r>
              <a:rPr lang="en-ZA" sz="2900" dirty="0">
                <a:latin typeface="Abadi" panose="020B0604020104020204" pitchFamily="34" charset="0"/>
              </a:rPr>
              <a:t>Capitec Bank Holdings Limited was financially stronger in 2025 than in 2021.</a:t>
            </a:r>
          </a:p>
          <a:p>
            <a:endParaRPr lang="en-ZA" sz="2900" dirty="0"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ZA" sz="2900" dirty="0">
                <a:latin typeface="Abadi" panose="020B0604020104020204" pitchFamily="34" charset="0"/>
              </a:rPr>
              <a:t>   </a:t>
            </a:r>
            <a:r>
              <a:rPr lang="en-ZA" sz="2900" b="1" dirty="0">
                <a:latin typeface="Abadi" panose="020B0604020104020204" pitchFamily="34" charset="0"/>
              </a:rPr>
              <a:t>Thank You</a:t>
            </a:r>
          </a:p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D26E6-08D7-51DA-6F20-3EE748523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790" y="6254444"/>
            <a:ext cx="899046" cy="3626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AF9595C-7F91-33BD-3BF5-1B44F4A69AC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7" r="8597"/>
          <a:stretch>
            <a:fillRect/>
          </a:stretch>
        </p:blipFill>
        <p:spPr>
          <a:xfrm>
            <a:off x="5665788" y="1117600"/>
            <a:ext cx="5741987" cy="4622800"/>
          </a:xfrm>
          <a:prstGeom prst="rect">
            <a:avLst/>
          </a:prstGeom>
          <a:blipFill>
            <a:blip r:embed="rId4">
              <a:alphaModFix amt="6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57018309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1311</TotalTime>
  <Words>454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Abadi</vt:lpstr>
      <vt:lpstr>Arial</vt:lpstr>
      <vt:lpstr>Neue Haas Grotesk Text Pro</vt:lpstr>
      <vt:lpstr>Helena</vt:lpstr>
      <vt:lpstr>Capitec Bank Holdings Limited </vt:lpstr>
      <vt:lpstr>VISION &amp; MISSION</vt:lpstr>
      <vt:lpstr>About this report</vt:lpstr>
      <vt:lpstr>          Financial Performance Context (2021-2025) </vt:lpstr>
      <vt:lpstr>        Financial Ratios   </vt:lpstr>
      <vt:lpstr>      Profitability Ratios </vt:lpstr>
      <vt:lpstr> </vt:lpstr>
      <vt:lpstr>PowerPoint Presentation</vt:lpstr>
      <vt:lpstr>Liquidity Position: 2021–2025</vt:lpstr>
      <vt:lpstr>Gearing Ratio: 2021–2025</vt:lpstr>
      <vt:lpstr>PowerPoint Presentation</vt:lpstr>
      <vt:lpstr>Trend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GOMOLEMO MAEMA (250112651)</dc:creator>
  <cp:lastModifiedBy>MR FARANANI DAVHANA (240011965)</cp:lastModifiedBy>
  <cp:revision>4</cp:revision>
  <dcterms:created xsi:type="dcterms:W3CDTF">2026-08-23T14:36:38Z</dcterms:created>
  <dcterms:modified xsi:type="dcterms:W3CDTF">2026-08-28T09:24:58Z</dcterms:modified>
</cp:coreProperties>
</file>